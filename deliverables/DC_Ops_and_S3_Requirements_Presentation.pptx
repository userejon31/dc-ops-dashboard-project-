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8E9F3"/>
                </a:solidFill>
                <a:latin typeface="Inter"/>
              </a:rPr>
              <a:t>UPY Final Presentation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8AAC5"/>
                </a:solidFill>
                <a:latin typeface="Inter"/>
              </a:rPr>
              <a:t>DC-Ops Dashboard and S3 Static Site requirements from the HTML guides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43584"/>
            <a:ext cx="17373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78992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This presentation covers all requirements from the DC-dashboard guide and the S3 static site guide.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It includes the dashboard scope, grading, required pages, customization rules, and deployment requirements.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It also covers the S3 exercise, its personalization rules, checklist, and submission expectations.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709160"/>
            <a:ext cx="3474720" cy="914400"/>
          </a:xfrm>
          <a:prstGeom prst="roundRect">
            <a:avLst/>
          </a:prstGeom>
          <a:solidFill>
            <a:srgbClr val="1A1F3A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D4FF"/>
                </a:solidFill>
                <a:latin typeface="Inter"/>
              </a:rPr>
              <a:t>Audience</a:t>
            </a:r>
          </a:p>
          <a:p>
            <a:r>
              <a:rPr sz="1200">
                <a:solidFill>
                  <a:srgbClr val="E8E9F3"/>
                </a:solidFill>
                <a:latin typeface="Inter"/>
              </a:rPr>
              <a:t>UPY Data Centers course reviewers and instructor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4709160"/>
            <a:ext cx="3474720" cy="914400"/>
          </a:xfrm>
          <a:prstGeom prst="roundRect">
            <a:avLst/>
          </a:prstGeom>
          <a:solidFill>
            <a:srgbClr val="1A1F3A"/>
          </a:solidFill>
          <a:ln w="15240">
            <a:solidFill>
              <a:srgbClr val="FFB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BE0B"/>
                </a:solidFill>
                <a:latin typeface="Inter"/>
              </a:rPr>
              <a:t>Format</a:t>
            </a:r>
          </a:p>
          <a:p>
            <a:r>
              <a:rPr sz="1200">
                <a:solidFill>
                  <a:srgbClr val="E8E9F3"/>
                </a:solidFill>
                <a:latin typeface="Inter"/>
              </a:rPr>
              <a:t>English narration, live demo, and one architecture 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4709160"/>
            <a:ext cx="3474720" cy="914400"/>
          </a:xfrm>
          <a:prstGeom prst="roundRect">
            <a:avLst/>
          </a:prstGeom>
          <a:solidFill>
            <a:srgbClr val="1A1F3A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6D6A0"/>
                </a:solidFill>
                <a:latin typeface="Inter"/>
              </a:rPr>
              <a:t>Scope</a:t>
            </a:r>
          </a:p>
          <a:p>
            <a:r>
              <a:rPr sz="1200">
                <a:solidFill>
                  <a:srgbClr val="E8E9F3"/>
                </a:solidFill>
                <a:latin typeface="Inter"/>
              </a:rPr>
              <a:t>Dashboard plus AWS S3 static site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AAC5"/>
                </a:solidFill>
                <a:latin typeface="Inter"/>
              </a:rPr>
              <a:t>UPY · Data Centers · E-CED-2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8E9F3"/>
                </a:solidFill>
                <a:latin typeface="Inter"/>
              </a:rPr>
              <a:t>DC-Ops Dashboard Guide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8AAC5"/>
                </a:solidFill>
                <a:latin typeface="Inter"/>
              </a:rPr>
              <a:t>Main project, grading structure, and required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43584"/>
            <a:ext cx="17373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78992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Multi-page Streamlit dashboard for Units 3 and 4 of Data Centers (E-CED-2).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Grading: 40 percent real deploy, 40 percent live demo and presentation, 20 percent architecture and design decisions.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The app must run publicly on AWS ECS using Docker, Terraform, and GitHub Actions.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The instructor expects a live URL that opens without local setup or login.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AAC5"/>
                </a:solidFill>
                <a:latin typeface="Inter"/>
              </a:rPr>
              <a:t>UPY · Data Centers · E-CED-2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8E9F3"/>
                </a:solidFill>
                <a:latin typeface="Inter"/>
              </a:rPr>
              <a:t>Dashboard Pages Required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8AAC5"/>
                </a:solidFill>
                <a:latin typeface="Inter"/>
              </a:rPr>
              <a:t>Five base pages plus one added analysis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43584"/>
            <a:ext cx="17373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880360" cy="1298448"/>
          </a:xfrm>
          <a:prstGeom prst="roundRect">
            <a:avLst/>
          </a:prstGeom>
          <a:solidFill>
            <a:srgbClr val="1A1F3A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D4FF"/>
                </a:solidFill>
                <a:latin typeface="Inter"/>
              </a:rPr>
              <a:t>01 Operations</a:t>
            </a:r>
          </a:p>
          <a:p>
            <a:r>
              <a:rPr sz="1200">
                <a:solidFill>
                  <a:srgbClr val="E8E9F3"/>
                </a:solidFill>
                <a:latin typeface="Inter"/>
              </a:rPr>
              <a:t>SLA gauges, incident log, and MAC processes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691640"/>
            <a:ext cx="2880360" cy="1298448"/>
          </a:xfrm>
          <a:prstGeom prst="roundRect">
            <a:avLst/>
          </a:prstGeom>
          <a:solidFill>
            <a:srgbClr val="1A1F3A"/>
          </a:solidFill>
          <a:ln w="15240">
            <a:solidFill>
              <a:srgbClr val="FFB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BE0B"/>
                </a:solidFill>
                <a:latin typeface="Inter"/>
              </a:rPr>
              <a:t>02 Energy</a:t>
            </a:r>
          </a:p>
          <a:p>
            <a:r>
              <a:rPr sz="1200">
                <a:solidFill>
                  <a:srgbClr val="E8E9F3"/>
                </a:solidFill>
                <a:latin typeface="Inter"/>
              </a:rPr>
              <a:t>PUE trends, energy consumption, and PUE calculator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691640"/>
            <a:ext cx="2880360" cy="1298448"/>
          </a:xfrm>
          <a:prstGeom prst="roundRect">
            <a:avLst/>
          </a:prstGeom>
          <a:solidFill>
            <a:srgbClr val="1A1F3A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6D6A0"/>
                </a:solidFill>
                <a:latin typeface="Inter"/>
              </a:rPr>
              <a:t>03 Security</a:t>
            </a:r>
          </a:p>
          <a:p>
            <a:r>
              <a:rPr sz="1200">
                <a:solidFill>
                  <a:srgbClr val="E8E9F3"/>
                </a:solidFill>
                <a:latin typeface="Inter"/>
              </a:rPr>
              <a:t>TIA-942 and ISO 27001 compliance controls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46120"/>
            <a:ext cx="2880360" cy="1298448"/>
          </a:xfrm>
          <a:prstGeom prst="roundRect">
            <a:avLst/>
          </a:prstGeom>
          <a:solidFill>
            <a:srgbClr val="1A1F3A"/>
          </a:solidFill>
          <a:ln w="15240">
            <a:solidFill>
              <a:srgbClr val="FF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006E"/>
                </a:solidFill>
                <a:latin typeface="Inter"/>
              </a:rPr>
              <a:t>04 Market Intelligence</a:t>
            </a:r>
          </a:p>
          <a:p>
            <a:r>
              <a:rPr sz="1200">
                <a:solidFill>
                  <a:srgbClr val="E8E9F3"/>
                </a:solidFill>
                <a:latin typeface="Inter"/>
              </a:rPr>
              <a:t>Mexico DC market, deployment models, hotspots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3246120"/>
            <a:ext cx="2880360" cy="1298448"/>
          </a:xfrm>
          <a:prstGeom prst="roundRect">
            <a:avLst/>
          </a:prstGeom>
          <a:solidFill>
            <a:srgbClr val="1A1F3A"/>
          </a:solidFill>
          <a:ln w="15240">
            <a:solidFill>
              <a:srgbClr val="7B2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7B2FB5"/>
                </a:solidFill>
                <a:latin typeface="Inter"/>
              </a:rPr>
              <a:t>05 Emerging Technologies</a:t>
            </a:r>
          </a:p>
          <a:p>
            <a:r>
              <a:rPr sz="1200">
                <a:solidFill>
                  <a:srgbClr val="E8E9F3"/>
                </a:solidFill>
                <a:latin typeface="Inter"/>
              </a:rPr>
              <a:t>Tech radar, adoption timeline, recommendations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246120"/>
            <a:ext cx="2880360" cy="1298448"/>
          </a:xfrm>
          <a:prstGeom prst="roundRect">
            <a:avLst/>
          </a:prstGeom>
          <a:solidFill>
            <a:srgbClr val="1A1F3A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D4FF"/>
                </a:solidFill>
                <a:latin typeface="Inter"/>
              </a:rPr>
              <a:t>06 Strategic Analysis</a:t>
            </a:r>
          </a:p>
          <a:p>
            <a:r>
              <a:rPr sz="1200">
                <a:solidFill>
                  <a:srgbClr val="E8E9F3"/>
                </a:solidFill>
                <a:latin typeface="Inter"/>
              </a:rPr>
              <a:t>Forecasts, concentration, risk, and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AAC5"/>
                </a:solidFill>
                <a:latin typeface="Inter"/>
              </a:rPr>
              <a:t>UPY · Data Centers · E-CED-2 ·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8E9F3"/>
                </a:solidFill>
                <a:latin typeface="Inter"/>
              </a:rPr>
              <a:t>Dashboard Customization Requirements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8AAC5"/>
                </a:solidFill>
                <a:latin typeface="Inter"/>
              </a:rPr>
              <a:t>What makes the dashboard different from the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43584"/>
            <a:ext cx="17373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78992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Use real market data or clearly documented research-based data from public sources.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Add at least one extra feature beyond the base dashboard, such as a map, export button, new page, or filter.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Change the visual identity so it does not look like the reference project.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Keep all visible content in English.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617720"/>
            <a:ext cx="3474720" cy="914400"/>
          </a:xfrm>
          <a:prstGeom prst="roundRect">
            <a:avLst/>
          </a:prstGeom>
          <a:solidFill>
            <a:srgbClr val="1A1F3A"/>
          </a:solidFill>
          <a:ln w="15240">
            <a:solidFill>
              <a:srgbClr val="FF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006E"/>
                </a:solidFill>
                <a:latin typeface="Inter"/>
              </a:rPr>
              <a:t>Design</a:t>
            </a:r>
          </a:p>
          <a:p>
            <a:r>
              <a:rPr sz="1200">
                <a:solidFill>
                  <a:srgbClr val="E8E9F3"/>
                </a:solidFill>
                <a:latin typeface="Inter"/>
              </a:rPr>
              <a:t>Custom colors, typography, spacing, and layout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4617720"/>
            <a:ext cx="3474720" cy="914400"/>
          </a:xfrm>
          <a:prstGeom prst="roundRect">
            <a:avLst/>
          </a:prstGeom>
          <a:solidFill>
            <a:srgbClr val="1A1F3A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D4FF"/>
                </a:solidFill>
                <a:latin typeface="Inter"/>
              </a:rPr>
              <a:t>Data</a:t>
            </a:r>
          </a:p>
          <a:p>
            <a:r>
              <a:rPr sz="1200">
                <a:solidFill>
                  <a:srgbClr val="E8E9F3"/>
                </a:solidFill>
                <a:latin typeface="Inter"/>
              </a:rPr>
              <a:t>Cited metrics and source documentation in the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4617720"/>
            <a:ext cx="3474720" cy="914400"/>
          </a:xfrm>
          <a:prstGeom prst="roundRect">
            <a:avLst/>
          </a:prstGeom>
          <a:solidFill>
            <a:srgbClr val="1A1F3A"/>
          </a:solidFill>
          <a:ln w="15240">
            <a:solidFill>
              <a:srgbClr val="FFB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BE0B"/>
                </a:solidFill>
                <a:latin typeface="Inter"/>
              </a:rPr>
              <a:t>Extra Value</a:t>
            </a:r>
          </a:p>
          <a:p>
            <a:r>
              <a:rPr sz="1200">
                <a:solidFill>
                  <a:srgbClr val="E8E9F3"/>
                </a:solidFill>
                <a:latin typeface="Inter"/>
              </a:rPr>
              <a:t>Strategic analysis and forecasting 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AAC5"/>
                </a:solidFill>
                <a:latin typeface="Inter"/>
              </a:rPr>
              <a:t>UPY · Data Centers · E-CED-2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8E9F3"/>
                </a:solidFill>
                <a:latin typeface="Inter"/>
              </a:rPr>
              <a:t>Dashboard Deployment and Presentation Rules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8AAC5"/>
                </a:solidFill>
                <a:latin typeface="Inter"/>
              </a:rPr>
              <a:t>How the live demo is expected to be delivered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43584"/>
            <a:ext cx="17373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78992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Present in English and keep the live demo under 10 minutes.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Use the public URL in the browser and navigate through every page live.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Include one architecture slide with stack diagram, data sources, and one key design decision.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Be prepared to explain code, Terraform resources, and configuration files during Q&amp;A.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AAC5"/>
                </a:solidFill>
                <a:latin typeface="Inter"/>
              </a:rPr>
              <a:t>UPY · Data Centers · E-CED-2 ·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8E9F3"/>
                </a:solidFill>
                <a:latin typeface="Inter"/>
              </a:rPr>
              <a:t>Dashboard Architecture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8AAC5"/>
                </a:solidFill>
                <a:latin typeface="Inter"/>
              </a:rPr>
              <a:t>Stack, deployment path, and implementation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43584"/>
            <a:ext cx="17373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148840" cy="1920240"/>
          </a:xfrm>
          <a:prstGeom prst="roundRect">
            <a:avLst/>
          </a:prstGeom>
          <a:solidFill>
            <a:srgbClr val="1A1F3A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D4FF"/>
                </a:solidFill>
                <a:latin typeface="Inter"/>
              </a:rPr>
              <a:t>App</a:t>
            </a:r>
          </a:p>
          <a:p>
            <a:r>
              <a:rPr sz="1200">
                <a:solidFill>
                  <a:srgbClr val="E8E9F3"/>
                </a:solidFill>
                <a:latin typeface="Inter"/>
              </a:rPr>
              <a:t>Python 3.11, Streamlit, Plotly, Pandas, Faker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920240"/>
            <a:ext cx="2148840" cy="1920240"/>
          </a:xfrm>
          <a:prstGeom prst="roundRect">
            <a:avLst/>
          </a:prstGeom>
          <a:solidFill>
            <a:srgbClr val="1A1F3A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6D6A0"/>
                </a:solidFill>
                <a:latin typeface="Inter"/>
              </a:rPr>
              <a:t>Container</a:t>
            </a:r>
          </a:p>
          <a:p>
            <a:r>
              <a:rPr sz="1200">
                <a:solidFill>
                  <a:srgbClr val="E8E9F3"/>
                </a:solidFill>
                <a:latin typeface="Inter"/>
              </a:rPr>
              <a:t>Docker, Amazon ECR, ECS Fargate, ALB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920240"/>
            <a:ext cx="2148840" cy="1920240"/>
          </a:xfrm>
          <a:prstGeom prst="roundRect">
            <a:avLst/>
          </a:prstGeom>
          <a:solidFill>
            <a:srgbClr val="1A1F3A"/>
          </a:solidFill>
          <a:ln w="15240">
            <a:solidFill>
              <a:srgbClr val="FFB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BE0B"/>
                </a:solidFill>
                <a:latin typeface="Inter"/>
              </a:rPr>
              <a:t>Infra as Code</a:t>
            </a:r>
          </a:p>
          <a:p>
            <a:r>
              <a:rPr sz="1200">
                <a:solidFill>
                  <a:srgbClr val="E8E9F3"/>
                </a:solidFill>
                <a:latin typeface="Inter"/>
              </a:rPr>
              <a:t>Terraform, AWS CLI, VPC, Security Groups, IAM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1920240"/>
            <a:ext cx="2148840" cy="1920240"/>
          </a:xfrm>
          <a:prstGeom prst="roundRect">
            <a:avLst/>
          </a:prstGeom>
          <a:solidFill>
            <a:srgbClr val="1A1F3A"/>
          </a:solidFill>
          <a:ln w="15240">
            <a:solidFill>
              <a:srgbClr val="FF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006E"/>
                </a:solidFill>
                <a:latin typeface="Inter"/>
              </a:rPr>
              <a:t>CI/CD</a:t>
            </a:r>
          </a:p>
          <a:p>
            <a:r>
              <a:rPr sz="1200">
                <a:solidFill>
                  <a:srgbClr val="E8E9F3"/>
                </a:solidFill>
                <a:latin typeface="Inter"/>
              </a:rPr>
              <a:t>GitHub, GitHub Actions, secrets, auto-deploy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97680"/>
            <a:ext cx="1078992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E8E9F3"/>
                </a:solidFill>
                <a:latin typeface="Inter"/>
              </a:rPr>
              <a:t>The presentation should explain why each component was chosen and how it supports the deploy requirement.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AAC5"/>
                </a:solidFill>
                <a:latin typeface="Inter"/>
              </a:rPr>
              <a:t>UPY · Data Centers · E-CED-2 ·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8E9F3"/>
                </a:solidFill>
                <a:latin typeface="Inter"/>
              </a:rPr>
              <a:t>S3 Static Site Guide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8AAC5"/>
                </a:solidFill>
                <a:latin typeface="Inter"/>
              </a:rPr>
              <a:t>Second HTML guide: AWS S3 static website exercise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43584"/>
            <a:ext cx="17373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78992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Create a static HTML site and host it publicly in Amazon S3.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Use Terraform to provision the bucket, public website configuration, and outputs.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Use AWS CLI to upload files and GitHub Actions to sync on every push to main.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The deliverable is a public URL that opens without login from any browser.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AAC5"/>
                </a:solidFill>
                <a:latin typeface="Inter"/>
              </a:rPr>
              <a:t>UPY · Data Centers · E-CED-2 ·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8E9F3"/>
                </a:solidFill>
                <a:latin typeface="Inter"/>
              </a:rPr>
              <a:t>S3 Tech Stack and Steps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8AAC5"/>
                </a:solidFill>
                <a:latin typeface="Inter"/>
              </a:rPr>
              <a:t>What the S3 guide expects you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43584"/>
            <a:ext cx="17373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1920240" cy="914400"/>
          </a:xfrm>
          <a:prstGeom prst="roundRect">
            <a:avLst/>
          </a:prstGeom>
          <a:solidFill>
            <a:srgbClr val="1A1F3A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D4FF"/>
                </a:solidFill>
                <a:latin typeface="Inter"/>
              </a:rPr>
              <a:t>HTML</a:t>
            </a:r>
          </a:p>
          <a:p>
            <a:r>
              <a:rPr sz="1200">
                <a:solidFill>
                  <a:srgbClr val="E8E9F3"/>
                </a:solidFill>
                <a:latin typeface="Inter"/>
              </a:rPr>
              <a:t>Static web page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645920"/>
            <a:ext cx="1920240" cy="914400"/>
          </a:xfrm>
          <a:prstGeom prst="roundRect">
            <a:avLst/>
          </a:prstGeom>
          <a:solidFill>
            <a:srgbClr val="1A1F3A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6D6A0"/>
                </a:solidFill>
                <a:latin typeface="Inter"/>
              </a:rPr>
              <a:t>AWS S3</a:t>
            </a:r>
          </a:p>
          <a:p>
            <a:r>
              <a:rPr sz="1200">
                <a:solidFill>
                  <a:srgbClr val="E8E9F3"/>
                </a:solidFill>
                <a:latin typeface="Inter"/>
              </a:rPr>
              <a:t>Static hosting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1645920"/>
            <a:ext cx="1920240" cy="914400"/>
          </a:xfrm>
          <a:prstGeom prst="roundRect">
            <a:avLst/>
          </a:prstGeom>
          <a:solidFill>
            <a:srgbClr val="1A1F3A"/>
          </a:solidFill>
          <a:ln w="15240">
            <a:solidFill>
              <a:srgbClr val="FFB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BE0B"/>
                </a:solidFill>
                <a:latin typeface="Inter"/>
              </a:rPr>
              <a:t>Terraform</a:t>
            </a:r>
          </a:p>
          <a:p>
            <a:r>
              <a:rPr sz="1200">
                <a:solidFill>
                  <a:srgbClr val="E8E9F3"/>
                </a:solidFill>
                <a:latin typeface="Inter"/>
              </a:rPr>
              <a:t>Infrastructure as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645920"/>
            <a:ext cx="1920240" cy="914400"/>
          </a:xfrm>
          <a:prstGeom prst="roundRect">
            <a:avLst/>
          </a:prstGeom>
          <a:solidFill>
            <a:srgbClr val="1A1F3A"/>
          </a:solidFill>
          <a:ln w="15240">
            <a:solidFill>
              <a:srgbClr val="FF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006E"/>
                </a:solidFill>
                <a:latin typeface="Inter"/>
              </a:rPr>
              <a:t>AWS CLI</a:t>
            </a:r>
          </a:p>
          <a:p>
            <a:r>
              <a:rPr sz="1200">
                <a:solidFill>
                  <a:srgbClr val="E8E9F3"/>
                </a:solidFill>
                <a:latin typeface="Inter"/>
              </a:rPr>
              <a:t>Upload and sync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1645920"/>
            <a:ext cx="1920240" cy="914400"/>
          </a:xfrm>
          <a:prstGeom prst="roundRect">
            <a:avLst/>
          </a:prstGeom>
          <a:solidFill>
            <a:srgbClr val="1A1F3A"/>
          </a:solidFill>
          <a:ln w="15240">
            <a:solidFill>
              <a:srgbClr val="7B2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7B2FB5"/>
                </a:solidFill>
                <a:latin typeface="Inter"/>
              </a:rPr>
              <a:t>GitHub Actions</a:t>
            </a:r>
          </a:p>
          <a:p>
            <a:r>
              <a:rPr sz="1200">
                <a:solidFill>
                  <a:srgbClr val="E8E9F3"/>
                </a:solidFill>
                <a:latin typeface="Inter"/>
              </a:rPr>
              <a:t>Automated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1078992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E8E9F3"/>
                </a:solidFill>
                <a:latin typeface="Inter"/>
              </a:rPr>
              <a:t>The guide also requires creating an IAM user, configuring AWS CLI, and verifying the final public website URL.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9F3"/>
                </a:solidFill>
                <a:latin typeface="Inter"/>
              </a:rPr>
              <a:t>The bucket name must be globally unique and the infrastructure must be destroyed when the exercise ends.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AAC5"/>
                </a:solidFill>
                <a:latin typeface="Inter"/>
              </a:rPr>
              <a:t>UPY · Data Centers · E-CED-2 ·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8E9F3"/>
                </a:solidFill>
                <a:latin typeface="Inter"/>
              </a:rPr>
              <a:t>S3 Personalization and Checklist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8AAC5"/>
                </a:solidFill>
                <a:latin typeface="Inter"/>
              </a:rPr>
              <a:t>Required personal content and final submission items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43584"/>
            <a:ext cx="17373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78992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The HTML must include your full name, favorite food, hobbies, and one fun fact.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The repository must be public and include the Terraform files and workflow file.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GitHub Actions must run successfully and the AWS credentials must be stored as secrets.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After the exercise, the AWS infrastructure must be destroyed to avoid charges.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AAC5"/>
                </a:solidFill>
                <a:latin typeface="Inter"/>
              </a:rPr>
              <a:t>UPY · Data Centers · E-CED-2 ·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8E9F3"/>
                </a:solidFill>
                <a:latin typeface="Inter"/>
              </a:rPr>
              <a:t>Combined Implementation Strategy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8AAC5"/>
                </a:solidFill>
                <a:latin typeface="Inter"/>
              </a:rPr>
              <a:t>How both guides fit together in one 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43584"/>
            <a:ext cx="17373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3383280" cy="1097280"/>
          </a:xfrm>
          <a:prstGeom prst="roundRect">
            <a:avLst/>
          </a:prstGeom>
          <a:solidFill>
            <a:srgbClr val="1A1F3A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D4FF"/>
                </a:solidFill>
                <a:latin typeface="Inter"/>
              </a:rPr>
              <a:t>Dashboard track</a:t>
            </a:r>
          </a:p>
          <a:p>
            <a:r>
              <a:rPr sz="1200">
                <a:solidFill>
                  <a:srgbClr val="E8E9F3"/>
                </a:solidFill>
                <a:latin typeface="Inter"/>
              </a:rPr>
              <a:t>Operations, energy, security, market, emerging technologies, and strategic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1097280"/>
          </a:xfrm>
          <a:prstGeom prst="roundRect">
            <a:avLst/>
          </a:prstGeom>
          <a:solidFill>
            <a:srgbClr val="1A1F3A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6D6A0"/>
                </a:solidFill>
                <a:latin typeface="Inter"/>
              </a:rPr>
              <a:t>S3 track</a:t>
            </a:r>
          </a:p>
          <a:p>
            <a:r>
              <a:rPr sz="1200">
                <a:solidFill>
                  <a:srgbClr val="E8E9F3"/>
                </a:solidFill>
                <a:latin typeface="Inter"/>
              </a:rPr>
              <a:t>Static site, Terraform, IAM user, AWS CLI, and GitHub Actions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645920"/>
            <a:ext cx="3383280" cy="1097280"/>
          </a:xfrm>
          <a:prstGeom prst="roundRect">
            <a:avLst/>
          </a:prstGeom>
          <a:solidFill>
            <a:srgbClr val="1A1F3A"/>
          </a:solidFill>
          <a:ln w="15240">
            <a:solidFill>
              <a:srgbClr val="FFB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BE0B"/>
                </a:solidFill>
                <a:latin typeface="Inter"/>
              </a:rPr>
              <a:t>Shared rules</a:t>
            </a:r>
          </a:p>
          <a:p>
            <a:r>
              <a:rPr sz="1200">
                <a:solidFill>
                  <a:srgbClr val="E8E9F3"/>
                </a:solidFill>
                <a:latin typeface="Inter"/>
              </a:rPr>
              <a:t>English presentation, live URL, professional delivery, and clear architecture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37560"/>
            <a:ext cx="1078992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E8E9F3"/>
                </a:solidFill>
                <a:latin typeface="Inter"/>
              </a:rPr>
              <a:t>The presentation should make it clear which requirements belong to each guide.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E8E9F3"/>
                </a:solidFill>
                <a:latin typeface="Inter"/>
              </a:rPr>
              <a:t>If you present both, separate them visually so the audience can follow the scope quickly.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AAC5"/>
                </a:solidFill>
                <a:latin typeface="Inter"/>
              </a:rPr>
              <a:t>UPY · Data Centers · E-CED-2 ·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8E9F3"/>
                </a:solidFill>
                <a:latin typeface="Inter"/>
              </a:rPr>
              <a:t>Recommended Demo Flow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8AAC5"/>
                </a:solidFill>
                <a:latin typeface="Inter"/>
              </a:rPr>
              <a:t>A clean order for the live 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43584"/>
            <a:ext cx="17373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1691640"/>
            <a:ext cx="384048" cy="38404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E27"/>
                </a:solidFill>
                <a:latin typeface="Inter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6420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8E9F3"/>
                </a:solidFill>
                <a:latin typeface="Inter"/>
              </a:rPr>
              <a:t>Intro: project goal and scope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404872"/>
            <a:ext cx="384048" cy="38404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E27"/>
                </a:solidFill>
                <a:latin typeface="Inter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377440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8E9F3"/>
                </a:solidFill>
                <a:latin typeface="Inter"/>
              </a:rPr>
              <a:t>Dashboard live demo: pages and analysis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118104"/>
            <a:ext cx="384048" cy="38404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E27"/>
                </a:solidFill>
                <a:latin typeface="Inter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090672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8E9F3"/>
                </a:solidFill>
                <a:latin typeface="Inter"/>
              </a:rPr>
              <a:t>Architecture slide: stack and deployment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831335"/>
            <a:ext cx="384048" cy="38404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E27"/>
                </a:solidFill>
                <a:latin typeface="Inter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803903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8E9F3"/>
                </a:solidFill>
                <a:latin typeface="Inter"/>
              </a:rPr>
              <a:t>S3 guide overview: steps and checklist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544568"/>
            <a:ext cx="384048" cy="38404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E27"/>
                </a:solidFill>
                <a:latin typeface="Inter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517136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8E9F3"/>
                </a:solidFill>
                <a:latin typeface="Inter"/>
              </a:rPr>
              <a:t>Close with risks, decisions, and next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AAC5"/>
                </a:solidFill>
                <a:latin typeface="Inter"/>
              </a:rPr>
              <a:t>UPY · Data Centers · E-CED-2 ·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8E9F3"/>
                </a:solidFill>
                <a:latin typeface="Inter"/>
              </a:rPr>
              <a:t>Conclusion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8AAC5"/>
                </a:solidFill>
                <a:latin typeface="Inter"/>
              </a:rPr>
              <a:t>What the presentation should communicate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43584"/>
            <a:ext cx="17373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78992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The project is not only a dashboard, but a complete engineering deliverable with deployment, analysis, and presentation requirements.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The S3 guide adds a second implementation track that requires public hosting, infrastructure as code, and personalization.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E8E9F3"/>
                </a:solidFill>
                <a:latin typeface="Inter"/>
              </a:rPr>
              <a:t>A strong presentation should show that you understand both the technical stack and the academic constraints.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754880"/>
            <a:ext cx="10607040" cy="868680"/>
          </a:xfrm>
          <a:prstGeom prst="roundRect">
            <a:avLst/>
          </a:prstGeom>
          <a:solidFill>
            <a:srgbClr val="1A1F3A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6D6A0"/>
                </a:solidFill>
                <a:latin typeface="Inter"/>
              </a:rPr>
              <a:t>Final message</a:t>
            </a:r>
          </a:p>
          <a:p>
            <a:r>
              <a:rPr sz="1200">
                <a:solidFill>
                  <a:srgbClr val="E8E9F3"/>
                </a:solidFill>
                <a:latin typeface="Inter"/>
              </a:rPr>
              <a:t>Show the live system, explain the data decisions, and clearly distinguish the requirements from each HTML guide.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AAC5"/>
                </a:solidFill>
                <a:latin typeface="Inter"/>
              </a:rPr>
              <a:t>UPY · Data Centers · E-CED-2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